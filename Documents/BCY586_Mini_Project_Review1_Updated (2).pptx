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324" r:id="rId3"/>
    <p:sldId id="325" r:id="rId4"/>
    <p:sldId id="332" r:id="rId5"/>
    <p:sldId id="339" r:id="rId6"/>
    <p:sldId id="333" r:id="rId7"/>
    <p:sldId id="335" r:id="rId8"/>
    <p:sldId id="336" r:id="rId9"/>
    <p:sldId id="340" r:id="rId10"/>
    <p:sldId id="337" r:id="rId11"/>
    <p:sldId id="334" r:id="rId12"/>
    <p:sldId id="330" r:id="rId13"/>
    <p:sldId id="33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A7023A-A72F-4691-9C2A-3F4B04A19625}" v="3" dt="2026-09-28T16:24:47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586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BD5F23-FB8F-4BF1-BEA3-76856FE7038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ECE491-F024-4374-B49A-F7D04E478B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84C3A2-F8C6-427B-B023-F7BFBC564980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1C5472-AED4-46E5-AA46-9091B2280D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8D9E94-5C72-438E-AAAC-7DC99FFA8D4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58B9D-E03F-4740-9EB0-89EFA872E8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4211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5696E-51F7-4A5D-9C1A-0B0BBD016B2E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EBBCA1-5DCB-4F2F-A4A8-3E6EA442D3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752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B8932-1AF3-4BD6-9048-724C56D9AB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93702" y="127691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0CD466-95D6-4011-90EB-D5F77E0F52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3702" y="3756585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A8BE6-8675-4630-9A1C-AAD208F5F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A2107-6786-46B0-830B-CE827A89DA50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40BEF-66C1-4E50-B1A3-DB3C38A8B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Dept. of CSE (Cyber Security) – Project Phase 1 Presentation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B99A8-A4EC-4A64-BAC3-2E612D7E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AAE736-7956-4D6A-B9DF-08F70B451687}"/>
              </a:ext>
            </a:extLst>
          </p:cNvPr>
          <p:cNvSpPr txBox="1"/>
          <p:nvPr userDrawn="1"/>
        </p:nvSpPr>
        <p:spPr>
          <a:xfrm>
            <a:off x="3579677" y="0"/>
            <a:ext cx="62984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2060"/>
                </a:solidFill>
              </a:rPr>
              <a:t>RNS Trust ®</a:t>
            </a:r>
          </a:p>
          <a:p>
            <a:pPr algn="ctr"/>
            <a:r>
              <a:rPr lang="en-US" sz="3200" b="1" dirty="0">
                <a:solidFill>
                  <a:srgbClr val="002060"/>
                </a:solidFill>
              </a:rPr>
              <a:t>RNS Institute of Technology</a:t>
            </a:r>
          </a:p>
          <a:p>
            <a:pPr algn="ctr"/>
            <a:r>
              <a:rPr lang="en-US" sz="1200" b="1" dirty="0">
                <a:solidFill>
                  <a:srgbClr val="002060"/>
                </a:solidFill>
              </a:rPr>
              <a:t>Autonomous Institute of Technology Affiliated to VTU</a:t>
            </a:r>
          </a:p>
          <a:p>
            <a:pPr algn="ctr"/>
            <a:r>
              <a:rPr lang="en-US" sz="1200" b="1" dirty="0">
                <a:solidFill>
                  <a:srgbClr val="002060"/>
                </a:solidFill>
              </a:rPr>
              <a:t>Accredited with NAAC A+ Grade</a:t>
            </a:r>
            <a:endParaRPr lang="en-IN" sz="12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9304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88304-C740-4BF9-AD08-B9249F839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9DE6A-94FC-4437-A6A5-2FCCBDFC7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9D640-F23C-4F21-8922-F3CB4CD23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54E7D-8AFE-45B7-8529-56414E3BA2CF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A9D80-7DE7-4D87-880B-8295EA23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CD2E1-16A1-49B4-AC68-F8D67C238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572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F4274-7484-4F1F-AD0B-9F87F6F54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A83B8A-D3B2-4019-ABC0-FDBDD7375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C0A604-A21F-4CF3-8200-FBDC48305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42009A-FC30-4897-99EB-D8E3806293FA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7A117-A1EE-41D1-90D5-2A097655B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31FDD3-E7F1-47DB-A8AF-5FA1A5C95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407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00B7-9824-4C80-BCF7-FB261D742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6A50F-7534-43FE-A99F-3380D978E3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66A6A-96A0-44D2-A1C2-66E8A95FCF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81DCB-DC64-4435-BA49-462A6062F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9F382-E065-45E3-8211-847D96CD0FE3}" type="datetime1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ED95A8-0822-4361-8092-A0F0D84E9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067FF-1755-472B-BE87-1ED82776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46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8A717-7E1B-45FF-9305-B98A0A631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E5707-FFAB-4D92-926F-B6769E0DD8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4AB87C-152E-4B90-B2A7-A2AEA3704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D42B6B-66F6-45B6-9C11-91E262AC32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C5F427-FB11-4EF1-849C-1F874820E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703841-8552-4DD3-8622-7A18DF11C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8B065-7E13-49BD-A0AC-09AFC97D3A10}" type="datetime1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B673F1-A460-453E-9D9D-5C5B86B6A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9A76D1-47EA-480B-AFD4-C48EA89A5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744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FDE6C-4F89-413E-935A-3CF3D1A7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EAED48-573A-405F-A140-9C5FD51D5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418F-E5B6-4DDF-95BE-FF5115DFADD4}" type="datetime1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104246-C561-44AE-9B04-4114BA23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3EAFB8-3F4D-41A4-B9CC-0171BFCE6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065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51264-B05A-41E2-85C1-C3133FFCA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1FA0E-70AF-438E-99C5-EB1C49ABC6BA}" type="datetime1">
              <a:rPr lang="en-IN" smtClean="0"/>
              <a:t>28-09-2026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729440-6767-4FF4-8339-D8C445D25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2B551F-A873-4646-8881-929A4BFD9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39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5F311-181C-41AE-ABE5-73B894E9B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CECD9-A1B7-4800-9F47-CC55679E6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A9293-2B05-4B4C-8D12-839060270C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55C78-4430-4CEC-AD90-97CB75B7D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F08C4-BE90-4379-A851-C9CC79802963}" type="datetime1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9A332-5CEE-4992-A2BF-1D9CB3AD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A63A7F-F4D0-4BA4-BB2E-D90451E76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5687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77446-A267-429E-A2E7-EE0030D51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1C6C17-5C62-4DE1-A9D0-6151DABE1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09838-4D5B-433F-8389-B92EF8958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72E9B-7849-4F8A-9CC2-8061DA434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967E9-30D8-491E-ABFD-D3CE905042B1}" type="datetime1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7EEAF8-B564-4A89-86D4-368036A3D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789A4-9F0E-4CA8-B506-901305777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229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B856E-294D-48BA-B9DB-5723F679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573CD0-06B5-48F6-9406-9F365DFAA5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E141B-639B-44B1-9DFB-0547B5823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1445EC-978B-4F21-974C-9AD721A5D7F6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36D1E-43FA-41B8-841D-C858988F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D4FED-4099-4CA0-BCE7-E13FF52F5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294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D2C37C-3B09-4F28-987E-761E4896CC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0ED722-DCF2-4107-9A3E-63911792B1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FB4BAC-7A78-4C3B-8390-06DCDE6C5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214CD-2E90-45CA-9DB4-FFA62C180292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09AAC-037B-48B2-86A4-8F9D3642D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D5BAD-79C4-471E-BFA3-5CACB9FE9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669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4_Title Slide_Deep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EC3EF4-A2D5-4058-977A-74A37AC36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190750" y="0"/>
            <a:ext cx="1000125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02525 h 6858000"/>
              <a:gd name="connsiteX3" fmla="*/ 8273508 w 12192000"/>
              <a:gd name="connsiteY3" fmla="*/ 6858000 h 6858000"/>
              <a:gd name="connsiteX4" fmla="*/ 0 w 1219200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02525"/>
                </a:lnTo>
                <a:lnTo>
                  <a:pt x="8273508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effectLst>
            <a:outerShdw blurRad="1651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Image</a:t>
            </a:r>
            <a:endParaRPr lang="en-GB" dirty="0"/>
          </a:p>
        </p:txBody>
      </p:sp>
      <p:sp>
        <p:nvSpPr>
          <p:cNvPr id="27" name="Text Placeholder 16">
            <a:extLst>
              <a:ext uri="{FF2B5EF4-FFF2-40B4-BE49-F238E27FC236}">
                <a16:creationId xmlns:a16="http://schemas.microsoft.com/office/drawing/2014/main" id="{4E7C74DD-4244-46B7-8336-30F7151DB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 rot="10800000" flipH="1" flipV="1">
            <a:off x="8074536" y="3124200"/>
            <a:ext cx="2087678" cy="3270696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DC663CF-0C67-4619-B40E-7832C4DA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190750" y="609600"/>
            <a:ext cx="7810500" cy="5638800"/>
          </a:xfrm>
          <a:custGeom>
            <a:avLst/>
            <a:gdLst>
              <a:gd name="connsiteX0" fmla="*/ 0 w 7810500"/>
              <a:gd name="connsiteY0" fmla="*/ 0 h 5638800"/>
              <a:gd name="connsiteX1" fmla="*/ 7810500 w 7810500"/>
              <a:gd name="connsiteY1" fmla="*/ 0 h 5638800"/>
              <a:gd name="connsiteX2" fmla="*/ 7810500 w 7810500"/>
              <a:gd name="connsiteY2" fmla="*/ 3151512 h 5638800"/>
              <a:gd name="connsiteX3" fmla="*/ 6252438 w 7810500"/>
              <a:gd name="connsiteY3" fmla="*/ 5638800 h 5638800"/>
              <a:gd name="connsiteX4" fmla="*/ 0 w 7810500"/>
              <a:gd name="connsiteY4" fmla="*/ 5638800 h 5638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0500" h="5638800">
                <a:moveTo>
                  <a:pt x="0" y="0"/>
                </a:moveTo>
                <a:lnTo>
                  <a:pt x="7810500" y="0"/>
                </a:lnTo>
                <a:lnTo>
                  <a:pt x="7810500" y="3151512"/>
                </a:lnTo>
                <a:lnTo>
                  <a:pt x="6252438" y="5638800"/>
                </a:lnTo>
                <a:lnTo>
                  <a:pt x="0" y="5638800"/>
                </a:lnTo>
                <a:close/>
              </a:path>
            </a:pathLst>
          </a:custGeom>
          <a:solidFill>
            <a:schemeClr val="accent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 algn="ctr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 dirty="0"/>
              <a:t>I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3809" y="1905000"/>
            <a:ext cx="5864382" cy="2275238"/>
          </a:xfrm>
        </p:spPr>
        <p:txBody>
          <a:bodyPr anchor="t">
            <a:normAutofit/>
          </a:bodyPr>
          <a:lstStyle>
            <a:lvl1pPr algn="ctr">
              <a:defRPr lang="en-US" sz="5000" kern="1200" cap="all" spc="10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9707" y="4297679"/>
            <a:ext cx="4072586" cy="1463040"/>
          </a:xfrm>
        </p:spPr>
        <p:txBody>
          <a:bodyPr lIns="91440" rIns="9144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77C971-9991-6AC8-EB5E-9878F365D5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793" y="4632959"/>
            <a:ext cx="1514476" cy="16154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5986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C439CEC-D483-4990-A958-4F585F703A91}"/>
              </a:ext>
            </a:extLst>
          </p:cNvPr>
          <p:cNvSpPr/>
          <p:nvPr userDrawn="1"/>
        </p:nvSpPr>
        <p:spPr>
          <a:xfrm>
            <a:off x="-7177" y="6086185"/>
            <a:ext cx="12203121" cy="7544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F8D7F1-F5F0-4A6C-8DD7-80007D19EDA1}"/>
              </a:ext>
            </a:extLst>
          </p:cNvPr>
          <p:cNvSpPr/>
          <p:nvPr userDrawn="1"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2F8530-5442-4E42-8EDA-39E651D02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839" y="580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918B7-9313-40CC-93ED-2A01345B3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1839" y="1562950"/>
            <a:ext cx="10515600" cy="4657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7C892-E9C6-4BCF-B729-8600710B63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227818" y="6376311"/>
            <a:ext cx="12025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002060"/>
                </a:solidFill>
              </a:defRPr>
            </a:lvl1pPr>
          </a:lstStyle>
          <a:p>
            <a:fld id="{13CE7A88-B784-40D8-8D1E-8B4D88C21D55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0CA2F-7DA4-4807-814F-EA978A2773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1999" y="6367168"/>
            <a:ext cx="65295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Dept. of CSE (Cyber Security) – Project Phase 1 Presentation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A8429-EB5D-4D7F-A6C5-34825F66AB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0699" y="6351787"/>
            <a:ext cx="576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002060"/>
                </a:solidFill>
              </a:defRPr>
            </a:lvl1pPr>
          </a:lstStyle>
          <a:p>
            <a:fld id="{F4127232-B881-49D7-80AC-901D3A0353F5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7" name="Picture 6" descr="A logo of elephants in a blue and white circle&#10;&#10;Description automatically generated">
            <a:extLst>
              <a:ext uri="{FF2B5EF4-FFF2-40B4-BE49-F238E27FC236}">
                <a16:creationId xmlns:a16="http://schemas.microsoft.com/office/drawing/2014/main" id="{324EA748-A47B-40B9-8BE0-49CB8FCD852B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1" y="17394"/>
            <a:ext cx="1097280" cy="700840"/>
          </a:xfrm>
          <a:prstGeom prst="rect">
            <a:avLst/>
          </a:prstGeom>
        </p:spPr>
      </p:pic>
      <p:pic>
        <p:nvPicPr>
          <p:cNvPr id="1026" name="Picture 2" descr="Home - IEEE Computer Society Bangalore Chapter">
            <a:extLst>
              <a:ext uri="{FF2B5EF4-FFF2-40B4-BE49-F238E27FC236}">
                <a16:creationId xmlns:a16="http://schemas.microsoft.com/office/drawing/2014/main" id="{F82850D8-9585-44A6-A25A-4CB81B7609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597" y="4191372"/>
            <a:ext cx="1107308" cy="562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A plate with a picture of a person in a white hat&#10;&#10;Description automatically generated">
            <a:extLst>
              <a:ext uri="{FF2B5EF4-FFF2-40B4-BE49-F238E27FC236}">
                <a16:creationId xmlns:a16="http://schemas.microsoft.com/office/drawing/2014/main" id="{3CF11455-C87D-4CA0-8C12-41ED39C01271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834388"/>
            <a:ext cx="1097280" cy="1098355"/>
          </a:xfrm>
          <a:prstGeom prst="rect">
            <a:avLst/>
          </a:prstGeom>
        </p:spPr>
      </p:pic>
      <p:pic>
        <p:nvPicPr>
          <p:cNvPr id="1030" name="Picture 6" descr="Sharda Malawi Scholarship 2024-25">
            <a:extLst>
              <a:ext uri="{FF2B5EF4-FFF2-40B4-BE49-F238E27FC236}">
                <a16:creationId xmlns:a16="http://schemas.microsoft.com/office/drawing/2014/main" id="{CEECD17E-B514-4C46-B29B-9874A4B09F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" y="2976582"/>
            <a:ext cx="1097280" cy="109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6AF7B6F0-A73D-491F-9F84-14F0C12006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" y="6139766"/>
            <a:ext cx="3020862" cy="700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A white and blue logo&#10;&#10;Description automatically generated">
            <a:extLst>
              <a:ext uri="{FF2B5EF4-FFF2-40B4-BE49-F238E27FC236}">
                <a16:creationId xmlns:a16="http://schemas.microsoft.com/office/drawing/2014/main" id="{B7B1D12B-CD78-4680-A812-8E00C0497951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28" y="4871676"/>
            <a:ext cx="1097280" cy="10972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739DCF-6B1C-6595-AF78-14B723FE7CBA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00" y="2002207"/>
            <a:ext cx="971550" cy="10363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1654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gi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F610F-00D0-4A5B-AD26-68372DB432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7944" y="1171978"/>
            <a:ext cx="9144000" cy="1528798"/>
          </a:xfrm>
        </p:spPr>
        <p:txBody>
          <a:bodyPr anchor="t">
            <a:noAutofit/>
          </a:bodyPr>
          <a:lstStyle/>
          <a:p>
            <a:pPr>
              <a:spcAft>
                <a:spcPts val="1200"/>
              </a:spcAft>
            </a:pPr>
            <a:r>
              <a:rPr lang="en-US" sz="3200" b="1" dirty="0"/>
              <a:t>BCY586, Mini Project</a:t>
            </a:r>
            <a:br>
              <a:rPr lang="en-US" sz="3200" b="1" dirty="0"/>
            </a:br>
            <a:r>
              <a:rPr lang="en-US" sz="1800" b="1" dirty="0"/>
              <a:t>REVIEW 1 on September 29th, 2026, Tuesday</a:t>
            </a:r>
            <a:br>
              <a:rPr lang="en-IN" sz="3200" b="1" dirty="0"/>
            </a:br>
            <a:r>
              <a:rPr lang="en-IN" sz="3200" b="1" dirty="0"/>
              <a:t>AI-Based SQL Injection and XSS Attack Detection System</a:t>
            </a:r>
            <a:endParaRPr lang="en-IN" sz="3200" b="1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EB793-6B0A-420A-929F-0B46E9576F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7944" y="2836506"/>
            <a:ext cx="9144000" cy="3448385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TEAM 11</a:t>
            </a:r>
            <a:endParaRPr lang="en-US" b="1" dirty="0">
              <a:solidFill>
                <a:srgbClr val="7030A0"/>
              </a:solidFill>
            </a:endParaRPr>
          </a:p>
          <a:p>
            <a:r>
              <a:rPr lang="en-US" sz="2800" b="1" dirty="0" err="1">
                <a:solidFill>
                  <a:srgbClr val="002060"/>
                </a:solidFill>
              </a:rPr>
              <a:t>Saichetan</a:t>
            </a:r>
            <a:r>
              <a:rPr lang="en-US" sz="2800" b="1" dirty="0">
                <a:solidFill>
                  <a:srgbClr val="002060"/>
                </a:solidFill>
              </a:rPr>
              <a:t> M			1RN24CY040</a:t>
            </a:r>
          </a:p>
          <a:p>
            <a:r>
              <a:rPr lang="en-US" sz="2800" b="1" dirty="0">
                <a:solidFill>
                  <a:srgbClr val="002060"/>
                </a:solidFill>
              </a:rPr>
              <a:t>Vishwanath			1RN24CY053</a:t>
            </a:r>
          </a:p>
          <a:p>
            <a:endParaRPr lang="en-US" sz="2800" b="1" dirty="0">
              <a:solidFill>
                <a:srgbClr val="002060"/>
              </a:solidFill>
            </a:endParaRPr>
          </a:p>
          <a:p>
            <a:r>
              <a:rPr lang="en-US" sz="2800" b="1" dirty="0">
                <a:solidFill>
                  <a:srgbClr val="C00000"/>
                </a:solidFill>
              </a:rPr>
              <a:t>Guide</a:t>
            </a:r>
          </a:p>
          <a:p>
            <a:r>
              <a:rPr lang="en-US" b="1" dirty="0"/>
              <a:t>Ms. Bhavana M</a:t>
            </a:r>
            <a:endParaRPr lang="en-IN" dirty="0"/>
          </a:p>
          <a:p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6803F1-3889-481C-8A54-801E498A7275}"/>
              </a:ext>
            </a:extLst>
          </p:cNvPr>
          <p:cNvSpPr txBox="1"/>
          <p:nvPr/>
        </p:nvSpPr>
        <p:spPr>
          <a:xfrm>
            <a:off x="3032120" y="6284891"/>
            <a:ext cx="91598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Department of Computer Science and Engineering (Cyber Security)</a:t>
            </a:r>
            <a:endParaRPr lang="en-IN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09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>
            <a:extLst>
              <a:ext uri="{FF2B5EF4-FFF2-40B4-BE49-F238E27FC236}">
                <a16:creationId xmlns:a16="http://schemas.microsoft.com/office/drawing/2014/main" id="{C9322FC9-D70F-4563-A089-EB993D21EC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3832" y="764704"/>
            <a:ext cx="4072586" cy="936104"/>
          </a:xfrm>
        </p:spPr>
        <p:txBody>
          <a:bodyPr>
            <a:normAutofit fontScale="92500"/>
          </a:bodyPr>
          <a:lstStyle/>
          <a:p>
            <a:r>
              <a:rPr lang="en-IN" sz="5400" dirty="0"/>
              <a:t>Our leaders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A80311-6DFA-4E17-8F9C-59C0BB8121A8}"/>
              </a:ext>
            </a:extLst>
          </p:cNvPr>
          <p:cNvSpPr txBox="1"/>
          <p:nvPr/>
        </p:nvSpPr>
        <p:spPr>
          <a:xfrm>
            <a:off x="6137904" y="4960382"/>
            <a:ext cx="2592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002060"/>
                </a:solidFill>
              </a:rPr>
              <a:t>Dr. R N Shetty</a:t>
            </a:r>
          </a:p>
          <a:p>
            <a:pPr algn="ctr"/>
            <a:r>
              <a:rPr lang="en-IN" sz="2000" b="1" dirty="0">
                <a:solidFill>
                  <a:srgbClr val="002060"/>
                </a:solidFill>
              </a:rPr>
              <a:t>Founder</a:t>
            </a:r>
          </a:p>
          <a:p>
            <a:pPr algn="ctr"/>
            <a:r>
              <a:rPr lang="en-IN" sz="2000" b="1" dirty="0">
                <a:solidFill>
                  <a:srgbClr val="002060"/>
                </a:solidFill>
              </a:rPr>
              <a:t>1928 - forever</a:t>
            </a:r>
          </a:p>
        </p:txBody>
      </p:sp>
      <p:pic>
        <p:nvPicPr>
          <p:cNvPr id="13" name="Picture 12" descr="A person in a suit&#10;&#10;Description automatically generated with low confidence">
            <a:extLst>
              <a:ext uri="{FF2B5EF4-FFF2-40B4-BE49-F238E27FC236}">
                <a16:creationId xmlns:a16="http://schemas.microsoft.com/office/drawing/2014/main" id="{544A68D2-E8A2-43CC-8CB7-FE76D0A9E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944" y="1574452"/>
            <a:ext cx="3240000" cy="3240000"/>
          </a:xfrm>
          <a:prstGeom prst="ellipse">
            <a:avLst/>
          </a:prstGeom>
          <a:ln w="12700" cap="rnd">
            <a:solidFill>
              <a:schemeClr val="tx1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0" name="Picture 9" descr="A picture containing table, bowl, sitting, cup&#10;&#10;Description automatically generated">
            <a:extLst>
              <a:ext uri="{FF2B5EF4-FFF2-40B4-BE49-F238E27FC236}">
                <a16:creationId xmlns:a16="http://schemas.microsoft.com/office/drawing/2014/main" id="{103923A2-05BF-42E8-BC3D-9742FF0A7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444" y="3940734"/>
            <a:ext cx="1714500" cy="1714500"/>
          </a:xfrm>
          <a:prstGeom prst="rect">
            <a:avLst/>
          </a:prstGeom>
        </p:spPr>
      </p:pic>
      <p:pic>
        <p:nvPicPr>
          <p:cNvPr id="17" name="Picture 16" descr="A picture containing table, bowl, sitting, cup&#10;&#10;Description automatically generated">
            <a:extLst>
              <a:ext uri="{FF2B5EF4-FFF2-40B4-BE49-F238E27FC236}">
                <a16:creationId xmlns:a16="http://schemas.microsoft.com/office/drawing/2014/main" id="{E310BEB3-0820-45EA-8B27-CDE5C0B84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6152" y="3940734"/>
            <a:ext cx="1714500" cy="1714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5DC3370-BD6F-49AF-8EC0-1F87E46139B3}"/>
              </a:ext>
            </a:extLst>
          </p:cNvPr>
          <p:cNvSpPr/>
          <p:nvPr/>
        </p:nvSpPr>
        <p:spPr>
          <a:xfrm>
            <a:off x="2969552" y="881954"/>
            <a:ext cx="8928992" cy="5897523"/>
          </a:xfrm>
          <a:prstGeom prst="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8" name="Picture 27" descr="A picture containing red, dark, colorful&#10;&#10;Description automatically generated">
            <a:extLst>
              <a:ext uri="{FF2B5EF4-FFF2-40B4-BE49-F238E27FC236}">
                <a16:creationId xmlns:a16="http://schemas.microsoft.com/office/drawing/2014/main" id="{3C5D943C-6BD2-4848-A23E-64D650C68B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276" y="1100690"/>
            <a:ext cx="6313126" cy="4532501"/>
          </a:xfrm>
          <a:prstGeom prst="rect">
            <a:avLst/>
          </a:prstGeom>
        </p:spPr>
      </p:pic>
      <p:pic>
        <p:nvPicPr>
          <p:cNvPr id="30" name="Picture 29" descr="A picture containing sky, water, outdoor&#10;&#10;Description automatically generated">
            <a:extLst>
              <a:ext uri="{FF2B5EF4-FFF2-40B4-BE49-F238E27FC236}">
                <a16:creationId xmlns:a16="http://schemas.microsoft.com/office/drawing/2014/main" id="{65F8DA0D-7FA7-452B-99C5-969E26CB1269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4771" t="5660" r="42609" b="4083"/>
          <a:stretch/>
        </p:blipFill>
        <p:spPr>
          <a:xfrm>
            <a:off x="272848" y="217019"/>
            <a:ext cx="1979860" cy="218653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ACD279-D036-4000-8A97-94664CE7E6E6}"/>
              </a:ext>
            </a:extLst>
          </p:cNvPr>
          <p:cNvSpPr txBox="1"/>
          <p:nvPr/>
        </p:nvSpPr>
        <p:spPr>
          <a:xfrm>
            <a:off x="2969552" y="68419"/>
            <a:ext cx="8928992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4000" b="1" dirty="0">
                <a:solidFill>
                  <a:srgbClr val="000099"/>
                </a:solidFill>
                <a:latin typeface="Bookman Old Style" panose="02050604050505020204" pitchFamily="18" charset="0"/>
              </a:rPr>
              <a:t>Tribute to Our Founder</a:t>
            </a:r>
            <a:endParaRPr lang="en-IN" sz="4000" b="1" dirty="0">
              <a:solidFill>
                <a:srgbClr val="000099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2" name="Picture 11" descr="A white gazebo with a dome and steps in front of a body of water&#10;&#10;Description automatically generated">
            <a:extLst>
              <a:ext uri="{FF2B5EF4-FFF2-40B4-BE49-F238E27FC236}">
                <a16:creationId xmlns:a16="http://schemas.microsoft.com/office/drawing/2014/main" id="{A453CBC3-320E-4C46-A8B6-066D7916783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50" r="22539" b="43760"/>
          <a:stretch/>
        </p:blipFill>
        <p:spPr>
          <a:xfrm>
            <a:off x="272848" y="2535209"/>
            <a:ext cx="1979860" cy="203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3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D79F86E-E284-4FEE-9748-FF94F52D8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Agenda</a:t>
            </a:r>
            <a:endParaRPr lang="en-IN" b="1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6019F1-887D-42CF-BF29-419CE03A6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Problem Statement and Objectives </a:t>
            </a:r>
          </a:p>
          <a:p>
            <a:r>
              <a:rPr lang="en-US" dirty="0"/>
              <a:t>Literature Review</a:t>
            </a:r>
          </a:p>
          <a:p>
            <a:r>
              <a:rPr lang="en-US" dirty="0"/>
              <a:t>Methodology</a:t>
            </a:r>
          </a:p>
          <a:p>
            <a:r>
              <a:rPr lang="en-US" dirty="0"/>
              <a:t>Resources/Requirements</a:t>
            </a:r>
          </a:p>
          <a:p>
            <a:r>
              <a:rPr lang="en-US" dirty="0"/>
              <a:t>Expected Outcomes</a:t>
            </a:r>
          </a:p>
          <a:p>
            <a:r>
              <a:rPr lang="en-US" dirty="0"/>
              <a:t>Applications</a:t>
            </a:r>
          </a:p>
          <a:p>
            <a:r>
              <a:rPr lang="en-US" dirty="0"/>
              <a:t>References</a:t>
            </a:r>
          </a:p>
          <a:p>
            <a:endParaRPr lang="en-IN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9F498C5-962E-416E-A6C2-E0BE62AA3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87483-D1CF-4331-BFE2-666B82390FEF}" type="datetime1">
              <a:rPr lang="en-IN" smtClean="0"/>
              <a:t>28-09-2026</a:t>
            </a:fld>
            <a:endParaRPr lang="en-IN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16CE494-3163-41C8-B3CC-624630C64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481AC3C-BA99-4EB8-9034-8EE02C176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856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5372-C6F4-4202-AD1A-93F9C0A7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74E90-B286-4956-BDE5-F24A515C2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800" b="1"/>
              <a:t>Why it matters: </a:t>
            </a:r>
            <a:r>
              <a:rPr sz="1800"/>
              <a:t>Web apps handle payments, personal and healthcare data. SQL Injection (SQLi) and Cross-Site Scripting (XSS) exploit weak input handling and have stayed in the OWASP Top 10 for over a decade.</a:t>
            </a:r>
          </a:p>
          <a:p>
            <a:pPr lvl="1">
              <a:spcAft>
                <a:spcPts val="800"/>
              </a:spcAft>
            </a:pPr>
            <a:r>
              <a:rPr sz="1800" b="1"/>
              <a:t>SQLi: </a:t>
            </a:r>
            <a:r>
              <a:rPr sz="1800"/>
              <a:t>malicious SQL injected via input fields – data theft, modification, deletion.</a:t>
            </a:r>
          </a:p>
          <a:p>
            <a:pPr lvl="1">
              <a:spcAft>
                <a:spcPts val="800"/>
              </a:spcAft>
            </a:pPr>
            <a:r>
              <a:rPr sz="1800" b="1"/>
              <a:t>XSS: </a:t>
            </a:r>
            <a:r>
              <a:rPr sz="1800"/>
              <a:t>malicious scripts run in other users’ browsers – session hijacking, cookie theft.</a:t>
            </a:r>
          </a:p>
          <a:p>
            <a:pPr>
              <a:spcAft>
                <a:spcPts val="800"/>
              </a:spcAft>
            </a:pPr>
            <a:r>
              <a:rPr sz="1800" b="1"/>
              <a:t>Existing solutions: </a:t>
            </a:r>
            <a:r>
              <a:rPr sz="1800"/>
              <a:t>signature / regex-based filtering that blocks known attack patterns.</a:t>
            </a:r>
          </a:p>
          <a:p>
            <a:pPr>
              <a:spcAft>
                <a:spcPts val="800"/>
              </a:spcAft>
            </a:pPr>
            <a:r>
              <a:rPr sz="1800" b="1"/>
              <a:t>Gap: </a:t>
            </a:r>
            <a:r>
              <a:rPr sz="1800"/>
              <a:t>brittle – only catches anticipated patterns; bypassed by encoding tricks, case variation and novel payloads.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4905B-3873-4EE7-B4BE-6842BF963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E8E47-94C0-4D56-8A2B-B5588BB27A90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95EA9-2C40-4C63-89C1-6082FA4E9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AF083-FD0E-45AF-B62E-186314C4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004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5372-C6F4-4202-AD1A-93F9C0A7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(contd.)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74E90-B286-4956-BDE5-F24A515C2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700"/>
              </a:spcAft>
            </a:pPr>
            <a:r>
              <a:rPr sz="1700" b="1" dirty="0"/>
              <a:t>Proposed: </a:t>
            </a:r>
            <a:r>
              <a:rPr sz="1700" dirty="0"/>
              <a:t>Adaptive Security Gateway – a full request-inspection pipeline whose detection core is a deep learning model, not static rules.</a:t>
            </a:r>
          </a:p>
          <a:p>
            <a:pPr>
              <a:spcAft>
                <a:spcPts val="700"/>
              </a:spcAft>
            </a:pPr>
            <a:r>
              <a:rPr sz="1700" b="1" dirty="0"/>
              <a:t>Detection engine: </a:t>
            </a:r>
            <a:r>
              <a:rPr sz="1700" dirty="0"/>
              <a:t>character-level CNN/</a:t>
            </a:r>
            <a:r>
              <a:rPr sz="1700" dirty="0" err="1"/>
              <a:t>BiLSTM</a:t>
            </a:r>
            <a:r>
              <a:rPr sz="1700" dirty="0"/>
              <a:t> in </a:t>
            </a:r>
            <a:r>
              <a:rPr sz="1700" dirty="0" err="1"/>
              <a:t>PyTorch</a:t>
            </a:r>
            <a:r>
              <a:rPr sz="1700" dirty="0"/>
              <a:t>, trained on a CUDA-enabled GPU; learns directly from raw payload text.</a:t>
            </a:r>
          </a:p>
          <a:p>
            <a:pPr>
              <a:spcAft>
                <a:spcPts val="700"/>
              </a:spcAft>
            </a:pPr>
            <a:r>
              <a:rPr sz="1700" b="1" dirty="0"/>
              <a:t>Beyond classification: </a:t>
            </a:r>
            <a:r>
              <a:rPr sz="1700" dirty="0"/>
              <a:t>request parsing, threat intelligence, session and device tracking, behavior anomaly scoring, risk-based decisions, policy enforcement, incident logging and an analyst dashboard.</a:t>
            </a:r>
          </a:p>
          <a:p>
            <a:pPr>
              <a:spcAft>
                <a:spcPts val="700"/>
              </a:spcAft>
            </a:pPr>
            <a:r>
              <a:rPr sz="1700" b="1" dirty="0"/>
              <a:t>Tools and platforms: </a:t>
            </a:r>
            <a:r>
              <a:rPr sz="1700" dirty="0"/>
              <a:t>Python, </a:t>
            </a:r>
            <a:r>
              <a:rPr sz="1700" dirty="0" err="1"/>
              <a:t>PyTorch</a:t>
            </a:r>
            <a:r>
              <a:rPr sz="1700" dirty="0"/>
              <a:t> (CUDA), Flask, React, MongoDB / PostgreSQL.</a:t>
            </a:r>
          </a:p>
          <a:p>
            <a:pPr>
              <a:spcAft>
                <a:spcPts val="700"/>
              </a:spcAft>
            </a:pPr>
            <a:r>
              <a:rPr sz="1700" b="1" dirty="0"/>
              <a:t>Aim: </a:t>
            </a:r>
            <a:r>
              <a:rPr sz="1700" dirty="0"/>
              <a:t>classify input as Benign / SQLi / XSS with a confidence score (target ≥ 90% accuracy) and turn it into an ALLOW / MONITOR / RATE_LIMIT / BLOCK verdict.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4905B-3873-4EE7-B4BE-6842BF963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E8E47-94C0-4D56-8A2B-B5588BB27A90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95EA9-2C40-4C63-89C1-6082FA4E9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AF083-FD0E-45AF-B62E-186314C4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7004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5372-C6F4-4202-AD1A-93F9C0A7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 and </a:t>
            </a:r>
            <a:br>
              <a:rPr lang="en-US" b="1" dirty="0"/>
            </a:br>
            <a:r>
              <a:rPr lang="en-US" b="1" dirty="0"/>
              <a:t>Project Objectives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74E90-B286-4956-BDE5-F24A515C26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300"/>
              </a:spcAft>
            </a:pPr>
            <a:r>
              <a:rPr sz="1700" b="1" dirty="0"/>
              <a:t>Problem statement: </a:t>
            </a:r>
            <a:r>
              <a:rPr sz="1700" dirty="0"/>
              <a:t>Existing signature/regex-based gateways fail to reliably detect obfuscated or previously unseen SQLi and XSS payloads. This project addresses the gap with a deep learning detection core inside a complete security gateway pipeline.</a:t>
            </a:r>
          </a:p>
          <a:p>
            <a:pPr>
              <a:spcAft>
                <a:spcPts val="300"/>
              </a:spcAft>
            </a:pPr>
            <a:r>
              <a:rPr sz="1700" b="1" dirty="0"/>
              <a:t>Project Objectives:</a:t>
            </a:r>
          </a:p>
          <a:p>
            <a:pPr lvl="1">
              <a:spcAft>
                <a:spcPts val="300"/>
              </a:spcAft>
            </a:pPr>
            <a:r>
              <a:rPr sz="1700" dirty="0"/>
              <a:t>To design and train a character-level CNN/</a:t>
            </a:r>
            <a:r>
              <a:rPr sz="1700" dirty="0" err="1"/>
              <a:t>BiLSTM</a:t>
            </a:r>
            <a:r>
              <a:rPr sz="1700" dirty="0"/>
              <a:t> (</a:t>
            </a:r>
            <a:r>
              <a:rPr sz="1700" dirty="0" err="1"/>
              <a:t>PyTorch</a:t>
            </a:r>
            <a:r>
              <a:rPr sz="1700" dirty="0"/>
              <a:t>, CUDA GPU) that classifies input as benign, SQLi or XSS with a confidence score.</a:t>
            </a:r>
          </a:p>
          <a:p>
            <a:pPr lvl="1">
              <a:spcAft>
                <a:spcPts val="300"/>
              </a:spcAft>
            </a:pPr>
            <a:r>
              <a:rPr sz="1700" dirty="0"/>
              <a:t>To build a complete gateway pipeline: parsing, preprocessing, threat intelligence, session, device and behavior analysis.</a:t>
            </a:r>
          </a:p>
          <a:p>
            <a:pPr lvl="1">
              <a:spcAft>
                <a:spcPts val="300"/>
              </a:spcAft>
            </a:pPr>
            <a:r>
              <a:rPr sz="1700" dirty="0"/>
              <a:t>To design a risk and decision framework giving ALLOW / MONITOR / RATE_LIMIT / BLOCK, with policy overrides for critical attacks.</a:t>
            </a:r>
          </a:p>
          <a:p>
            <a:pPr lvl="1">
              <a:spcAft>
                <a:spcPts val="300"/>
              </a:spcAft>
            </a:pPr>
            <a:r>
              <a:rPr sz="1700" dirty="0"/>
              <a:t>To implement incident logging and an analyst dashboard to review and override verdicts.</a:t>
            </a:r>
          </a:p>
          <a:p>
            <a:pPr lvl="1">
              <a:spcAft>
                <a:spcPts val="300"/>
              </a:spcAft>
            </a:pPr>
            <a:r>
              <a:rPr sz="1700" dirty="0"/>
              <a:t>To evaluate reliability on a held-out test set and unseen payloads.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4905B-3873-4EE7-B4BE-6842BF963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E8E47-94C0-4D56-8A2B-B5588BB27A90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95EA9-2C40-4C63-89C1-6082FA4E9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AF083-FD0E-45AF-B62E-186314C42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3828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A8682-08A8-3295-B1AD-2B94A3318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04FDB-28CC-BC02-A9E8-42498FC9C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Literature Review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45CE5-35D0-7D5E-62BB-60996CC6C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1839" y="1054359"/>
            <a:ext cx="10515600" cy="5166137"/>
          </a:xfrm>
        </p:spPr>
        <p:txBody>
          <a:bodyPr wrap="square">
            <a:noAutofit/>
          </a:bodyPr>
          <a:lstStyle/>
          <a:p>
            <a:pPr>
              <a:spcAft>
                <a:spcPts val="300"/>
              </a:spcAft>
            </a:pPr>
            <a:r>
              <a:rPr sz="1400" b="1" dirty="0"/>
              <a:t>Detection of Structured Query Language Injection Attacks Using Machine Learning Techniques </a:t>
            </a:r>
            <a:r>
              <a:rPr sz="1400" dirty="0"/>
              <a:t>(Angula &amp; </a:t>
            </a:r>
            <a:r>
              <a:rPr sz="1400" dirty="0" err="1"/>
              <a:t>Hashiyana</a:t>
            </a:r>
            <a:r>
              <a:rPr sz="1400" dirty="0"/>
              <a:t>)</a:t>
            </a:r>
          </a:p>
          <a:p>
            <a:pPr lvl="1">
              <a:spcAft>
                <a:spcPts val="300"/>
              </a:spcAft>
            </a:pPr>
            <a:r>
              <a:rPr sz="1400" dirty="0"/>
              <a:t>Compares classical ML for SQLi; Naive Bayes was best – gives the accuracy baseline.</a:t>
            </a:r>
          </a:p>
          <a:p>
            <a:pPr>
              <a:spcAft>
                <a:spcPts val="300"/>
              </a:spcAft>
            </a:pPr>
            <a:r>
              <a:rPr sz="1400" b="1" dirty="0"/>
              <a:t>SQL Injection Attack Detection using Machine Learning Algorithms </a:t>
            </a:r>
            <a:r>
              <a:rPr sz="1400" dirty="0"/>
              <a:t>(</a:t>
            </a:r>
            <a:r>
              <a:rPr sz="1400" dirty="0" err="1"/>
              <a:t>Aburashed</a:t>
            </a:r>
            <a:r>
              <a:rPr sz="1400" dirty="0"/>
              <a:t>, AL </a:t>
            </a:r>
            <a:r>
              <a:rPr sz="1400" dirty="0" err="1"/>
              <a:t>Amoush</a:t>
            </a:r>
            <a:r>
              <a:rPr sz="1400" dirty="0"/>
              <a:t> &amp; </a:t>
            </a:r>
            <a:r>
              <a:rPr sz="1400" dirty="0" err="1"/>
              <a:t>Alrefai</a:t>
            </a:r>
            <a:r>
              <a:rPr sz="1400" dirty="0"/>
              <a:t>, 2024)</a:t>
            </a:r>
          </a:p>
          <a:p>
            <a:pPr lvl="1">
              <a:spcAft>
                <a:spcPts val="300"/>
              </a:spcAft>
            </a:pPr>
            <a:r>
              <a:rPr sz="1400" dirty="0"/>
              <a:t>ANN beat RF, Gradient Boosting and SVM and was fastest – supports a neural detector.</a:t>
            </a:r>
          </a:p>
          <a:p>
            <a:pPr>
              <a:spcAft>
                <a:spcPts val="300"/>
              </a:spcAft>
            </a:pPr>
            <a:r>
              <a:rPr sz="1400" b="1" dirty="0"/>
              <a:t>A Hybrid Approach for Detecting SQL Injection Using Machine Learning Techniques </a:t>
            </a:r>
            <a:r>
              <a:rPr sz="1400" dirty="0"/>
              <a:t>(Krishna, Oluoch &amp; Kim, 2025)</a:t>
            </a:r>
          </a:p>
          <a:p>
            <a:pPr lvl="1">
              <a:spcAft>
                <a:spcPts val="300"/>
              </a:spcAft>
            </a:pPr>
            <a:r>
              <a:rPr sz="1400" dirty="0"/>
              <a:t>Naive Bayes + LSTM + Random Forest – sequence-aware models catch what simple features miss.</a:t>
            </a:r>
          </a:p>
          <a:p>
            <a:pPr>
              <a:spcAft>
                <a:spcPts val="300"/>
              </a:spcAft>
            </a:pPr>
            <a:r>
              <a:rPr sz="1400" b="1" dirty="0"/>
              <a:t>Securing Web Applications Against XSS and SQLi Attacks Using a Novel Deep Learning Approach </a:t>
            </a:r>
            <a:r>
              <a:rPr sz="1400" dirty="0"/>
              <a:t>(Scientific Reports, 2024)</a:t>
            </a:r>
          </a:p>
          <a:p>
            <a:pPr lvl="1">
              <a:spcAft>
                <a:spcPts val="300"/>
              </a:spcAft>
            </a:pPr>
            <a:r>
              <a:rPr sz="1400" dirty="0"/>
              <a:t>Deep learning on HTTP CSIC 2010; full-request-level detection is valid.</a:t>
            </a:r>
          </a:p>
          <a:p>
            <a:pPr>
              <a:spcAft>
                <a:spcPts val="300"/>
              </a:spcAft>
            </a:pPr>
            <a:r>
              <a:rPr sz="1400" b="1" dirty="0" err="1"/>
              <a:t>UniEmbed</a:t>
            </a:r>
            <a:r>
              <a:rPr sz="1400" b="1" dirty="0"/>
              <a:t>: A Unified Approach for Detecting XSS and SQL Injection Attacks Using Machine Learning Classifiers</a:t>
            </a:r>
          </a:p>
          <a:p>
            <a:pPr lvl="1">
              <a:spcAft>
                <a:spcPts val="300"/>
              </a:spcAft>
            </a:pPr>
            <a:r>
              <a:rPr sz="1400" dirty="0"/>
              <a:t>Embeddings + MLP detect both attacks – learned features matter; one unified model works.</a:t>
            </a:r>
          </a:p>
          <a:p>
            <a:pPr>
              <a:spcAft>
                <a:spcPts val="300"/>
              </a:spcAft>
            </a:pPr>
            <a:r>
              <a:rPr sz="1400" b="1" dirty="0"/>
              <a:t>Gap and our approach: </a:t>
            </a:r>
            <a:r>
              <a:rPr sz="1400" dirty="0"/>
              <a:t>regex rules are brittle and most work stops at classification; we use one unified char-level deep model inside a 14-stage gateway.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21EFB-05DE-DD94-9E2D-BA9E01A9A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E8E47-94C0-4D56-8A2B-B5588BB27A90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E37F1-F232-82D2-3CCF-386B74B72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24967-2B2D-1C62-6B81-92F12B63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554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84D4B-34ED-B600-8180-A82605878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BA2E4-8AE4-C5E5-A11B-E103466D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346F8-9EBB-A3AC-E08C-D3305CA36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1839" y="1500000"/>
            <a:ext cx="10515600" cy="1250000"/>
          </a:xfrm>
        </p:spPr>
        <p:txBody>
          <a:bodyPr wrap="square"/>
          <a:lstStyle/>
          <a:p>
            <a:pPr>
              <a:spcAft>
                <a:spcPts val="300"/>
              </a:spcAft>
            </a:pPr>
            <a:r>
              <a:rPr sz="1400" b="1"/>
              <a:t>Overview: </a:t>
            </a:r>
            <a:r>
              <a:rPr sz="1400"/>
              <a:t>each request passes through a 14-stage gateway. Stage 4 is the PyTorch (CUDA) char-level CNN/BiLSTM detector; the other stages add context, risk scoring, decisions and analyst review.</a:t>
            </a:r>
          </a:p>
          <a:p>
            <a:pPr>
              <a:spcAft>
                <a:spcPts val="300"/>
              </a:spcAft>
            </a:pPr>
            <a:r>
              <a:rPr sz="1400" b="1"/>
              <a:t>Complete gateway pipeline (14 stages):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1671B-BF41-3C68-73D9-AA631383E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F63E-482A-4F44-964B-F9463FAD56B5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03A4C-C556-E881-18D7-742CFC48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FD6D8-C504-2163-E1D3-EE0F4B37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8</a:t>
            </a:fld>
            <a:endParaRPr lang="en-IN"/>
          </a:p>
        </p:txBody>
      </p:sp>
      <p:sp>
        <p:nvSpPr>
          <p:cNvPr id="7" name="Rounded Rectangle 6"/>
          <p:cNvSpPr/>
          <p:nvPr/>
        </p:nvSpPr>
        <p:spPr>
          <a:xfrm>
            <a:off x="1301839" y="2800000"/>
            <a:ext cx="1356514" cy="8000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 Request Ingress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reverse proxy / middleware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68353" y="3120000"/>
            <a:ext cx="15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28353" y="2800000"/>
            <a:ext cx="1356514" cy="8000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 Parser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method, headers, body, IP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94867" y="3120000"/>
            <a:ext cx="15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354867" y="2800000"/>
            <a:ext cx="1356514" cy="8000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3. Preprocessing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decode, lowercase, tokenize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721381" y="3120000"/>
            <a:ext cx="15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881381" y="2800000"/>
            <a:ext cx="1356514" cy="800000"/>
          </a:xfrm>
          <a:prstGeom prst="roundRect">
            <a:avLst/>
          </a:prstGeom>
          <a:solidFill>
            <a:srgbClr val="8B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4. ML Detection Engine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PyTorch CNN/BiLSTM + confidence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247895" y="3120000"/>
            <a:ext cx="15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07895" y="2800000"/>
            <a:ext cx="1356514" cy="8000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5. Threat Intelligence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IP reputation, GeoIP/ASN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74409" y="3120000"/>
            <a:ext cx="15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934409" y="2800000"/>
            <a:ext cx="1356514" cy="8000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6. Session Manager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Flask-Caching, request counts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300923" y="3120000"/>
            <a:ext cx="15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460923" y="2800000"/>
            <a:ext cx="1356514" cy="8000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7. Device Profiler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fingerprint from headers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01839" y="3900000"/>
            <a:ext cx="1356514" cy="8000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8. Behavior Engine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anomaly scoring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68353" y="4220000"/>
            <a:ext cx="15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828353" y="3900000"/>
            <a:ext cx="1356514" cy="8000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9. Risk Engine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fuses ML, anomaly, reputation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194867" y="4220000"/>
            <a:ext cx="15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4354867" y="3900000"/>
            <a:ext cx="1356514" cy="8000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10. Decision Engine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ALLOW / MONITOR / RATE_LIMIT / BLOCK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721381" y="4220000"/>
            <a:ext cx="15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881381" y="3900000"/>
            <a:ext cx="1356514" cy="8000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11. Policy Engine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hard overrides, critical attacks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247895" y="4220000"/>
            <a:ext cx="15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407895" y="3900000"/>
            <a:ext cx="1356514" cy="8000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12. Incident &amp; Memory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persists events, attacker memory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774409" y="4220000"/>
            <a:ext cx="15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934409" y="3900000"/>
            <a:ext cx="1356514" cy="8000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13. Analytics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trends, attack-type breakdown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10300923" y="4220000"/>
            <a:ext cx="150000" cy="160000"/>
          </a:xfrm>
          <a:prstGeom prst="right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10460923" y="3900000"/>
            <a:ext cx="1356514" cy="800000"/>
          </a:xfrm>
          <a:prstGeom prst="roundRect">
            <a:avLst/>
          </a:prstGeom>
          <a:solidFill>
            <a:srgbClr val="1F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0000" tIns="20000" rIns="40000" bIns="2000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14. Dashboard (SOC UI)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analyst review, replay, override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01839" y="4950000"/>
            <a:ext cx="10515600" cy="1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/>
              <a:t>Use cases: </a:t>
            </a:r>
            <a:r>
              <a:rPr sz="1200"/>
              <a:t>End User / upstream app → “Process Request” (Detect Payload, Enrich Context, Score Risk, Decide Verdict). Security Analyst → “Review Incidents” (Replay Request, Confirm/Override Verdict). Developer → offline “Train Model” (Load Dataset, Preprocess Text, Train on GPU, Evaluate). The trained model links training to the live gateway.</a:t>
            </a:r>
          </a:p>
        </p:txBody>
      </p:sp>
    </p:spTree>
    <p:extLst>
      <p:ext uri="{BB962C8B-B14F-4D97-AF65-F5344CB8AC3E}">
        <p14:creationId xmlns:p14="http://schemas.microsoft.com/office/powerpoint/2010/main" val="3513832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84D4B-34ED-B600-8180-A82605878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BA2E4-8AE4-C5E5-A11B-E103466DC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 – Step-by-Step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346F8-9EBB-A3AC-E08C-D3305CA36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1839" y="1203649"/>
            <a:ext cx="10515600" cy="5016847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</a:pPr>
            <a:r>
              <a:rPr sz="1600" b="1" dirty="0"/>
              <a:t>1. Data Collection: </a:t>
            </a:r>
            <a:r>
              <a:rPr sz="1600" dirty="0"/>
              <a:t>benign, SQLi and XSS samples (Kaggle, OWASP references).</a:t>
            </a:r>
          </a:p>
          <a:p>
            <a:pPr>
              <a:spcAft>
                <a:spcPts val="400"/>
              </a:spcAft>
            </a:pPr>
            <a:r>
              <a:rPr sz="1600" b="1" dirty="0"/>
              <a:t>2. Cleaning &amp; Labeling: </a:t>
            </a:r>
            <a:r>
              <a:rPr sz="1600" dirty="0"/>
              <a:t>unified “text, label” schema – benign, </a:t>
            </a:r>
            <a:r>
              <a:rPr sz="1600" dirty="0" err="1"/>
              <a:t>sqli</a:t>
            </a:r>
            <a:r>
              <a:rPr sz="1600" dirty="0"/>
              <a:t>, </a:t>
            </a:r>
            <a:r>
              <a:rPr sz="1600" dirty="0" err="1"/>
              <a:t>xss</a:t>
            </a:r>
            <a:r>
              <a:rPr sz="1600" dirty="0"/>
              <a:t>.</a:t>
            </a:r>
          </a:p>
          <a:p>
            <a:pPr>
              <a:spcAft>
                <a:spcPts val="400"/>
              </a:spcAft>
            </a:pPr>
            <a:r>
              <a:rPr sz="1600" b="1" dirty="0"/>
              <a:t>3. Preprocessing: </a:t>
            </a:r>
            <a:r>
              <a:rPr sz="1600" dirty="0"/>
              <a:t>decode URL/HTML encoding, lowercase, character-level tokenization.</a:t>
            </a:r>
          </a:p>
          <a:p>
            <a:pPr>
              <a:spcAft>
                <a:spcPts val="400"/>
              </a:spcAft>
            </a:pPr>
            <a:r>
              <a:rPr sz="1600" b="1" dirty="0"/>
              <a:t>4. Model Design: </a:t>
            </a:r>
            <a:r>
              <a:rPr sz="1600" dirty="0"/>
              <a:t>char-level CNN/</a:t>
            </a:r>
            <a:r>
              <a:rPr sz="1600" dirty="0" err="1"/>
              <a:t>BiLSTM</a:t>
            </a:r>
            <a:r>
              <a:rPr sz="1600" dirty="0"/>
              <a:t> in </a:t>
            </a:r>
            <a:r>
              <a:rPr sz="1600" dirty="0" err="1"/>
              <a:t>PyTorch</a:t>
            </a:r>
            <a:r>
              <a:rPr sz="1600" dirty="0"/>
              <a:t>, no hand-made features.</a:t>
            </a:r>
          </a:p>
          <a:p>
            <a:pPr>
              <a:spcAft>
                <a:spcPts val="400"/>
              </a:spcAft>
            </a:pPr>
            <a:r>
              <a:rPr sz="1600" b="1" dirty="0"/>
              <a:t>5. Model Training: </a:t>
            </a:r>
            <a:r>
              <a:rPr sz="1600" dirty="0"/>
              <a:t>on CUDA GPU; check </a:t>
            </a:r>
            <a:r>
              <a:rPr sz="1600" dirty="0" err="1"/>
              <a:t>torch.cuda.is_available</a:t>
            </a:r>
            <a:r>
              <a:rPr sz="1600" dirty="0"/>
              <a:t>().</a:t>
            </a:r>
          </a:p>
          <a:p>
            <a:pPr>
              <a:spcAft>
                <a:spcPts val="400"/>
              </a:spcAft>
            </a:pPr>
            <a:r>
              <a:rPr sz="1600" b="1" dirty="0"/>
              <a:t>6. Evaluation: </a:t>
            </a:r>
            <a:r>
              <a:rPr sz="1600" dirty="0"/>
              <a:t>accuracy, precision, recall, F1-score, confusion matrix.</a:t>
            </a:r>
          </a:p>
          <a:p>
            <a:pPr>
              <a:spcAft>
                <a:spcPts val="400"/>
              </a:spcAft>
            </a:pPr>
            <a:r>
              <a:rPr sz="1600" b="1" dirty="0"/>
              <a:t>7. Context Enrichment: </a:t>
            </a:r>
            <a:r>
              <a:rPr sz="1600" dirty="0"/>
              <a:t>Threat Intelligence, Session Manager, Device Profiler (Stages 5–7).</a:t>
            </a:r>
          </a:p>
          <a:p>
            <a:pPr>
              <a:spcAft>
                <a:spcPts val="400"/>
              </a:spcAft>
            </a:pPr>
            <a:r>
              <a:rPr sz="1600" b="1" dirty="0"/>
              <a:t>8. Risk &amp; Decision Logic: </a:t>
            </a:r>
            <a:r>
              <a:rPr sz="1600" dirty="0"/>
              <a:t>Behavior, Risk, Decision, Policy Engines (Stages 8–11).</a:t>
            </a:r>
          </a:p>
          <a:p>
            <a:pPr>
              <a:spcAft>
                <a:spcPts val="400"/>
              </a:spcAft>
            </a:pPr>
            <a:r>
              <a:rPr sz="1600" b="1" dirty="0"/>
              <a:t>9. System Integration: </a:t>
            </a:r>
            <a:r>
              <a:rPr sz="1600" dirty="0"/>
              <a:t>Flask gateway; incidents and analytics in MongoDB/PostgreSQL (Stages 12–13).</a:t>
            </a:r>
          </a:p>
          <a:p>
            <a:pPr>
              <a:spcAft>
                <a:spcPts val="400"/>
              </a:spcAft>
            </a:pPr>
            <a:r>
              <a:rPr sz="1600" b="1" dirty="0"/>
              <a:t>10. Dashboard: </a:t>
            </a:r>
            <a:r>
              <a:rPr sz="1600" dirty="0"/>
              <a:t>React SOC dashboard on a local Node process with node-cache.</a:t>
            </a:r>
          </a:p>
          <a:p>
            <a:pPr>
              <a:spcAft>
                <a:spcPts val="400"/>
              </a:spcAft>
            </a:pPr>
            <a:r>
              <a:rPr sz="1600" b="1" dirty="0"/>
              <a:t>11. Testing: </a:t>
            </a:r>
            <a:r>
              <a:rPr sz="1600" dirty="0"/>
              <a:t>dataset samples and hand-crafted unseen payloads.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1671B-BF41-3C68-73D9-AA631383E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F63E-482A-4F44-964B-F9463FAD56B5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03A4C-C556-E881-18D7-742CFC489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4FD6D8-C504-2163-E1D3-EE0F4B37A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832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17755-1CF1-BBDB-670E-09BE4C6CE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71D12-BBE2-EE67-4941-F39CF4EEA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Resources/Requirements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32919-C331-23B6-927B-DD102BFEF8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400"/>
              </a:spcAft>
            </a:pPr>
            <a:r>
              <a:rPr sz="1600" b="1"/>
              <a:t>Hardware:</a:t>
            </a:r>
          </a:p>
          <a:p>
            <a:pPr lvl="1">
              <a:spcAft>
                <a:spcPts val="400"/>
              </a:spcAft>
            </a:pPr>
            <a:r>
              <a:rPr sz="1600"/>
              <a:t>Laptop/PC – minimum Intel i5, 8 GB RAM; recommended i7, 16 GB RAM</a:t>
            </a:r>
          </a:p>
          <a:p>
            <a:pPr lvl="1">
              <a:spcAft>
                <a:spcPts val="400"/>
              </a:spcAft>
            </a:pPr>
            <a:r>
              <a:rPr sz="1600"/>
              <a:t>CUDA-enabled NVIDIA GPU (GTX/RTX) required for model training/inference</a:t>
            </a:r>
          </a:p>
          <a:p>
            <a:pPr>
              <a:spcAft>
                <a:spcPts val="400"/>
              </a:spcAft>
            </a:pPr>
            <a:r>
              <a:rPr sz="1600" b="1"/>
              <a:t>Software:</a:t>
            </a:r>
          </a:p>
          <a:p>
            <a:pPr lvl="1">
              <a:spcAft>
                <a:spcPts val="400"/>
              </a:spcAft>
            </a:pPr>
            <a:r>
              <a:rPr sz="1600"/>
              <a:t>Python 3.10+; PyTorch (CUDA build), pandas, numpy; Flask REST API</a:t>
            </a:r>
          </a:p>
          <a:p>
            <a:pPr lvl="1">
              <a:spcAft>
                <a:spcPts val="400"/>
              </a:spcAft>
            </a:pPr>
            <a:r>
              <a:rPr sz="1600"/>
              <a:t>Flask-Caching (server-side session cache); React dashboard on Node with node-cache</a:t>
            </a:r>
          </a:p>
          <a:p>
            <a:pPr lvl="1">
              <a:spcAft>
                <a:spcPts val="400"/>
              </a:spcAft>
            </a:pPr>
            <a:r>
              <a:rPr sz="1600"/>
              <a:t>MongoDB or PostgreSQL; VS Code / Jupyter; Git &amp; GitHub</a:t>
            </a:r>
          </a:p>
          <a:p>
            <a:pPr>
              <a:spcAft>
                <a:spcPts val="400"/>
              </a:spcAft>
            </a:pPr>
            <a:r>
              <a:rPr sz="1600" b="1"/>
              <a:t>Miscellaneous:</a:t>
            </a:r>
          </a:p>
          <a:p>
            <a:pPr lvl="1">
              <a:spcAft>
                <a:spcPts val="400"/>
              </a:spcAft>
            </a:pPr>
            <a:r>
              <a:rPr sz="1600"/>
              <a:t>Datasets: Kaggle SQL Injection and XSS datasets</a:t>
            </a:r>
          </a:p>
          <a:p>
            <a:pPr lvl="1">
              <a:spcAft>
                <a:spcPts val="400"/>
              </a:spcAft>
            </a:pPr>
            <a:r>
              <a:rPr sz="1600"/>
              <a:t>Testing: Postman (API), pytest (unit tests)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D76AA3-87BB-B323-DD1E-ACB20E9B3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F63E-482A-4F44-964B-F9463FAD56B5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58C44-3568-F56C-5FAB-2AC035CF0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08AA7-83A3-2365-DF53-9401319A7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3103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1180C-0398-4063-9315-2F6417EFC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Expected Outcomes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DEB043-46E3-47E6-AC2F-221E945C8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800" dirty="0"/>
              <a:t>Trained </a:t>
            </a:r>
            <a:r>
              <a:rPr sz="1800" dirty="0" err="1"/>
              <a:t>PyTorch</a:t>
            </a:r>
            <a:r>
              <a:rPr sz="1800" dirty="0"/>
              <a:t> char-level CNN/</a:t>
            </a:r>
            <a:r>
              <a:rPr sz="1800" dirty="0" err="1"/>
              <a:t>BiLSTM</a:t>
            </a:r>
            <a:r>
              <a:rPr sz="1800" dirty="0"/>
              <a:t> classifying benign / SQLi / XSS, target ≥ 90% accuracy on held-out data.</a:t>
            </a:r>
          </a:p>
          <a:p>
            <a:pPr>
              <a:spcAft>
                <a:spcPts val="800"/>
              </a:spcAft>
            </a:pPr>
            <a:r>
              <a:rPr sz="1800" dirty="0"/>
              <a:t>Fully integrated gateway: parsing, context enrichment, risk scoring, decisioning, policy enforcement.</a:t>
            </a:r>
          </a:p>
          <a:p>
            <a:pPr>
              <a:spcAft>
                <a:spcPts val="800"/>
              </a:spcAft>
            </a:pPr>
            <a:r>
              <a:rPr sz="1800" dirty="0"/>
              <a:t>Incident logging with an analyst SOC dashboard to review and override verdicts.</a:t>
            </a:r>
          </a:p>
          <a:p>
            <a:pPr>
              <a:spcAft>
                <a:spcPts val="800"/>
              </a:spcAft>
            </a:pPr>
            <a:r>
              <a:rPr sz="1800" dirty="0"/>
              <a:t>Evaluation report: accuracy, precision, recall, F1, confusion matrix, with GPU-training confirmation.</a:t>
            </a:r>
          </a:p>
          <a:p>
            <a:pPr>
              <a:spcAft>
                <a:spcPts val="800"/>
              </a:spcAft>
            </a:pPr>
            <a:r>
              <a:rPr sz="1800" dirty="0"/>
              <a:t>Complete project report and live end-to-end demonstration.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432FF-97D4-4392-9364-CDF170AD7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F63E-482A-4F44-964B-F9463FAD56B5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7C454-93F3-476C-8807-1AB62B89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75F9F0-5EFE-4EDF-BDD9-4E0FCFED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6008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63F90-8FD5-44FB-A4A3-F14CE752D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Applications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2B3E3-3A81-45D0-A4B0-A7A5449776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800"/>
              <a:t>Deployable as a WAF layer – reverse proxy or middleware in an existing app.</a:t>
            </a:r>
          </a:p>
          <a:p>
            <a:pPr>
              <a:spcAft>
                <a:spcPts val="800"/>
              </a:spcAft>
            </a:pPr>
            <a:r>
              <a:rPr sz="1800"/>
              <a:t>Adaptive request protection for small/medium web apps and startups without in-house security teams.</a:t>
            </a:r>
          </a:p>
          <a:p>
            <a:pPr>
              <a:spcAft>
                <a:spcPts val="800"/>
              </a:spcAft>
            </a:pPr>
            <a:r>
              <a:rPr sz="1800"/>
              <a:t>Educational reference architecture for deep-learning detection in a security operations pipeline.</a:t>
            </a:r>
          </a:p>
          <a:p>
            <a:pPr>
              <a:spcAft>
                <a:spcPts val="800"/>
              </a:spcAft>
            </a:pPr>
            <a:r>
              <a:rPr sz="1800"/>
              <a:t>Char-level approach extends to command injection, NoSQL injection and CSRF in the same pipeline.</a:t>
            </a:r>
          </a:p>
          <a:p>
            <a:pPr>
              <a:spcAft>
                <a:spcPts val="800"/>
              </a:spcAft>
            </a:pPr>
            <a:r>
              <a:rPr sz="1800"/>
              <a:t>Foundation for model retraining and containerized deployment as future work.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63165-BFD8-4FA2-BBC0-D6250A2C6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3618-D644-42A6-B87D-FBA03E4231B1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543B-3E05-4E0D-8869-53922B86D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0717E-8552-4F97-BA77-90321ED73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75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C73D9B-AA6C-925C-6C6E-668109BE7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CF627-3808-B197-67B1-C7DED7746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A5DAC-A18F-65A3-2276-E3FDE08FF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01839" y="1194319"/>
            <a:ext cx="10515600" cy="5026178"/>
          </a:xfrm>
        </p:spPr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300"/>
              </a:spcAft>
              <a:buNone/>
            </a:pPr>
            <a:r>
              <a:rPr sz="1600" b="1" dirty="0"/>
              <a:t>Research Papers / Journals:</a:t>
            </a:r>
          </a:p>
          <a:p>
            <a:pPr>
              <a:spcAft>
                <a:spcPts val="300"/>
              </a:spcAft>
            </a:pPr>
            <a:r>
              <a:rPr sz="1600" b="0" dirty="0"/>
              <a:t>[1] T. J. Angula and V. </a:t>
            </a:r>
            <a:r>
              <a:rPr sz="1600" b="0" dirty="0" err="1"/>
              <a:t>Hashiyana</a:t>
            </a:r>
            <a:r>
              <a:rPr sz="1600" b="0" dirty="0"/>
              <a:t>, “Detection of Structured Query Language Injection Attacks Using Machine Learning Techniques,” Int. J. Computer Science and Information Technology.</a:t>
            </a:r>
          </a:p>
          <a:p>
            <a:pPr>
              <a:spcAft>
                <a:spcPts val="300"/>
              </a:spcAft>
            </a:pPr>
            <a:r>
              <a:rPr sz="1600" b="0" dirty="0"/>
              <a:t>[2] L. </a:t>
            </a:r>
            <a:r>
              <a:rPr sz="1600" b="0" dirty="0" err="1"/>
              <a:t>Aburashed</a:t>
            </a:r>
            <a:r>
              <a:rPr sz="1600" b="0" dirty="0"/>
              <a:t>, M. AL </a:t>
            </a:r>
            <a:r>
              <a:rPr sz="1600" b="0" dirty="0" err="1"/>
              <a:t>Amoush</a:t>
            </a:r>
            <a:r>
              <a:rPr sz="1600" b="0" dirty="0"/>
              <a:t> and W. </a:t>
            </a:r>
            <a:r>
              <a:rPr sz="1600" b="0" dirty="0" err="1"/>
              <a:t>Alrefai</a:t>
            </a:r>
            <a:r>
              <a:rPr sz="1600" b="0" dirty="0"/>
              <a:t>, “SQL Injection Attack Detection using Machine Learning Algorithms,” </a:t>
            </a:r>
            <a:r>
              <a:rPr sz="1600" b="0" dirty="0" err="1"/>
              <a:t>Semarak</a:t>
            </a:r>
            <a:r>
              <a:rPr sz="1600" b="0" dirty="0"/>
              <a:t> Int. J. Machine Learning, 2(1), 1–12, 2024.</a:t>
            </a:r>
          </a:p>
          <a:p>
            <a:pPr>
              <a:spcAft>
                <a:spcPts val="300"/>
              </a:spcAft>
            </a:pPr>
            <a:r>
              <a:rPr sz="1600" b="0" dirty="0"/>
              <a:t>[3] H. Krishna, J. Oluoch and J. Kim, “A Hybrid Approach for Detecting SQL-Injection Using Machine Learning Techniques,” </a:t>
            </a:r>
            <a:r>
              <a:rPr sz="1600" b="0" dirty="0" err="1"/>
              <a:t>SciTePress</a:t>
            </a:r>
            <a:r>
              <a:rPr sz="1600" b="0" dirty="0"/>
              <a:t>, 2025.</a:t>
            </a:r>
          </a:p>
          <a:p>
            <a:pPr>
              <a:spcAft>
                <a:spcPts val="300"/>
              </a:spcAft>
            </a:pPr>
            <a:r>
              <a:rPr sz="1600" b="0" dirty="0"/>
              <a:t>[4] “Securing web applications against XSS and SQLi attacks using a novel deep learning approach,” Scientific Reports, 2024.</a:t>
            </a:r>
          </a:p>
          <a:p>
            <a:pPr>
              <a:spcAft>
                <a:spcPts val="300"/>
              </a:spcAft>
            </a:pPr>
            <a:r>
              <a:rPr sz="1600" b="0" dirty="0"/>
              <a:t>[5] “</a:t>
            </a:r>
            <a:r>
              <a:rPr sz="1600" b="0" dirty="0" err="1"/>
              <a:t>UniEmbed</a:t>
            </a:r>
            <a:r>
              <a:rPr sz="1600" b="0" dirty="0"/>
              <a:t>: A Unified Approach for Detecting XSS and SQL Injection Attacks Using Machine Learning Classifiers,” ResearchGate.</a:t>
            </a:r>
          </a:p>
          <a:p>
            <a:pPr>
              <a:spcAft>
                <a:spcPts val="300"/>
              </a:spcAft>
            </a:pPr>
            <a:r>
              <a:rPr sz="1600" b="1" dirty="0"/>
              <a:t>Websites / Online Resources:</a:t>
            </a:r>
          </a:p>
          <a:p>
            <a:pPr>
              <a:spcAft>
                <a:spcPts val="300"/>
              </a:spcAft>
            </a:pPr>
            <a:r>
              <a:rPr sz="1600" b="0" dirty="0"/>
              <a:t>[6] OWASP Foundation, OWASP Top Ten – https://owasp.org/www-project-top-ten/</a:t>
            </a:r>
          </a:p>
          <a:p>
            <a:pPr>
              <a:spcAft>
                <a:spcPts val="300"/>
              </a:spcAft>
            </a:pPr>
            <a:r>
              <a:rPr sz="1600" b="0" dirty="0"/>
              <a:t>[7] Kaggle Datasets: SQL Injection and XSS datasets – https://www.kaggle.com/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DD21A-9CE7-1971-2ADE-9983966F3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93618-D644-42A6-B87D-FBA03E4231B1}" type="datetime1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0A5F2-F825-BD29-71C3-37ECB442A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Dept. of CSE (Cyber Security) – Mini Project Presentation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214DB-8D96-CBDB-6E28-E29DB0F84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127232-B881-49D7-80AC-901D3A0353F5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4867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SE-CY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1713</Words>
  <Application>Microsoft Office PowerPoint</Application>
  <PresentationFormat>Widescreen</PresentationFormat>
  <Paragraphs>164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Bookman Old Style</vt:lpstr>
      <vt:lpstr>Calibri</vt:lpstr>
      <vt:lpstr>Office Theme</vt:lpstr>
      <vt:lpstr>BCY586, Mini Project REVIEW 1 on September 29th, 2026, Tuesday AI-Based SQL Injection and XSS Attack Detection System</vt:lpstr>
      <vt:lpstr>PowerPoint Presentation</vt:lpstr>
      <vt:lpstr>Agenda</vt:lpstr>
      <vt:lpstr>Introduction</vt:lpstr>
      <vt:lpstr>Introduction (contd.)</vt:lpstr>
      <vt:lpstr>Problem Statement and  Project Objectives</vt:lpstr>
      <vt:lpstr>Literature Review</vt:lpstr>
      <vt:lpstr>Methodology</vt:lpstr>
      <vt:lpstr>Methodology – Step-by-Step</vt:lpstr>
      <vt:lpstr>Resources/Requirements</vt:lpstr>
      <vt:lpstr>Expected Outcomes</vt:lpstr>
      <vt:lpstr>Applications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SUPERADMIN_CSE-CY</dc:creator>
  <cp:lastModifiedBy>vishwanath hatte</cp:lastModifiedBy>
  <cp:revision>15</cp:revision>
  <dcterms:created xsi:type="dcterms:W3CDTF">2024-11-03T07:06:01Z</dcterms:created>
  <dcterms:modified xsi:type="dcterms:W3CDTF">2026-09-28T17:22:19Z</dcterms:modified>
</cp:coreProperties>
</file>